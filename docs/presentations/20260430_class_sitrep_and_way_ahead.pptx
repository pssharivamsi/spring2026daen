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hdphoto2.wdp" ContentType="image/vnd.ms-photo"/>
  <Override PartName="/ppt/media/hdphoto1.wdp" ContentType="image/vnd.ms-photo"/>
  <Override PartName="/ppt/media/hdphoto3.wdp" ContentType="image/vnd.ms-photo"/>
  <Override PartName="/ppt/media/hdphoto4.wdp" ContentType="image/vnd.ms-photo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408DAD-D971-41B6-B072-9E31C7B70E1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3A5E74-88B7-46BC-A067-DE7FB9DD8B2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520" y="457200"/>
            <a:ext cx="3929040" cy="159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1840" y="987480"/>
            <a:ext cx="6168240" cy="487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520" y="2057400"/>
            <a:ext cx="3929040" cy="380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8B3DA8-8F83-401A-AEF5-D76B7FC8230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520" y="457200"/>
            <a:ext cx="3929040" cy="159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181840" y="987480"/>
            <a:ext cx="6168240" cy="4871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520" y="2057400"/>
            <a:ext cx="3929040" cy="380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BA67B8-1B92-4F9E-A62E-D512B2B7E73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160" y="1122480"/>
            <a:ext cx="913932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44E68C-7D3E-47CB-A484-4E6C73A4ED7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7A631F-FCAF-46AD-9E8B-091859D9080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722440" y="365040"/>
            <a:ext cx="2626200" cy="580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7720" y="365040"/>
            <a:ext cx="7729920" cy="580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49CA98-AA0C-40FA-9DDF-B5A311D67AF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BCDBE5-27B5-449C-8A48-8A28CAE703E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0560" cy="285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1600" y="4589640"/>
            <a:ext cx="10510560" cy="149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81C423-B0CC-4816-89BD-1F4697C8E14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517788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170400" y="1825560"/>
            <a:ext cx="517788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8A32B7-FA4B-4BC5-9807-80A30D3D815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5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9520" y="1681200"/>
            <a:ext cx="515412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520" y="2505240"/>
            <a:ext cx="5154120" cy="368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170400" y="1681200"/>
            <a:ext cx="517968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170400" y="2505240"/>
            <a:ext cx="5179680" cy="368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31"/>
          </p:nvPr>
        </p:nvSpPr>
        <p:spPr>
          <a:xfrm>
            <a:off x="83772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ftr" idx="32"/>
          </p:nvPr>
        </p:nvSpPr>
        <p:spPr>
          <a:xfrm>
            <a:off x="4037400" y="6356520"/>
            <a:ext cx="411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8"/>
          <p:cNvSpPr>
            <a:spLocks noGrp="1"/>
          </p:cNvSpPr>
          <p:nvPr>
            <p:ph type="sldNum" idx="33"/>
          </p:nvPr>
        </p:nvSpPr>
        <p:spPr>
          <a:xfrm>
            <a:off x="8607960" y="6356520"/>
            <a:ext cx="2740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007BAB-E663-41AA-A5EB-3DCBAFF34FA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microsoft.com/office/2007/relationships/hdphoto" Target="../media/hdphoto2.wdp"/><Relationship Id="rId8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github.com/yagaC64/Spring2026DAEN/pull/20" TargetMode="External"/><Relationship Id="rId2" Type="http://schemas.openxmlformats.org/officeDocument/2006/relationships/hyperlink" Target="https://github.com/yagaC64/Spring2026DAEN/pull/21" TargetMode="External"/><Relationship Id="rId3" Type="http://schemas.openxmlformats.org/officeDocument/2006/relationships/hyperlink" Target="https://github.com/yagaC64/Spring2026DAEN/pull/23" TargetMode="External"/><Relationship Id="rId4" Type="http://schemas.openxmlformats.org/officeDocument/2006/relationships/hyperlink" Target="https://github.com/yagaC64/Spring2026DAEN/pull/14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microsoft.com/office/2007/relationships/hdphoto" Target="../media/hdphoto3.wdp"/><Relationship Id="rId8" Type="http://schemas.openxmlformats.org/officeDocument/2006/relationships/image" Target="../media/image3.png"/><Relationship Id="rId9" Type="http://schemas.openxmlformats.org/officeDocument/2006/relationships/image" Target="../media/image3.png"/><Relationship Id="rId10" Type="http://schemas.openxmlformats.org/officeDocument/2006/relationships/image" Target="../media/image2.png"/><Relationship Id="rId1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microsoft.com/office/2007/relationships/hdphoto" Target="../media/hdphoto4.wdp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hub.com/yagaC64/Spring2026DAEN/pull/24" TargetMode="External"/><Relationship Id="rId2" Type="http://schemas.openxmlformats.org/officeDocument/2006/relationships/hyperlink" Target="https://github.com/yagaC64/Spring2026DAEN/pull/25" TargetMode="External"/><Relationship Id="rId3" Type="http://schemas.openxmlformats.org/officeDocument/2006/relationships/hyperlink" Target="https://github.com/yagaC64/Spring2026DAEN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160" y="1122480"/>
            <a:ext cx="913932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Spring2026DAEN April 30 SITREP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776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Repo catch-up, student PR outcomes, technical extraction path, and closeout way ahead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Data science and analytics focus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April 30, 2026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65" name="Group 5"/>
          <p:cNvGrpSpPr/>
          <p:nvPr/>
        </p:nvGrpSpPr>
        <p:grpSpPr>
          <a:xfrm>
            <a:off x="-42840" y="-2160"/>
            <a:ext cx="3348720" cy="919800"/>
            <a:chOff x="-42840" y="-2160"/>
            <a:chExt cx="3348720" cy="919800"/>
          </a:xfrm>
        </p:grpSpPr>
        <p:pic>
          <p:nvPicPr>
            <p:cNvPr id="66" name="Picture 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7" name="TextBox 1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oup 6"/>
          <p:cNvGrpSpPr/>
          <p:nvPr/>
        </p:nvGrpSpPr>
        <p:grpSpPr>
          <a:xfrm>
            <a:off x="10741680" y="102240"/>
            <a:ext cx="1266480" cy="1267920"/>
            <a:chOff x="10741680" y="102240"/>
            <a:chExt cx="1266480" cy="1267920"/>
          </a:xfrm>
        </p:grpSpPr>
        <p:pic>
          <p:nvPicPr>
            <p:cNvPr id="69" name="Picture 1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0" name="Picture 13"/>
            <p:cNvPicPr/>
            <p:nvPr/>
          </p:nvPicPr>
          <p:blipFill>
            <a:blip r:embed="rId4"/>
            <a:srcRect l="0" t="44439" r="0" b="40799"/>
            <a:stretch/>
          </p:blipFill>
          <p:spPr>
            <a:xfrm>
              <a:off x="1074168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1" name="Picture 14"/>
            <p:cNvPicPr/>
            <p:nvPr/>
          </p:nvPicPr>
          <p:blipFill>
            <a:blip r:embed="rId5"/>
            <a:srcRect l="20218" t="17167" r="19987" b="17283"/>
            <a:stretch/>
          </p:blipFill>
          <p:spPr>
            <a:xfrm>
              <a:off x="1099656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" name="Picture 15"/>
            <p:cNvPicPr/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Why We Are Regrouping Today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7720" y="205164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Since April 23, the class contributed mainly in the docs and review lane rather than the repo-surgery lane.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PRs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  <a:hlinkClick r:id="rId1"/>
              </a:rPr>
              <a:t>#20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,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  <a:hlinkClick r:id="rId2"/>
              </a:rPr>
              <a:t>#21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, and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  <a:hlinkClick r:id="rId3"/>
              </a:rPr>
              <a:t>#23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turned the PR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  <a:hlinkClick r:id="rId4"/>
              </a:rPr>
              <a:t>#14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discussion into usable scope, UX, and future-work artifacts.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We now need to connect those class contributions to the actual technical closeout path.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Today's task is to align what landed, what was extracted, and what still needs discussion / finished before capstone closeout.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75" name="Group 1"/>
          <p:cNvGrpSpPr/>
          <p:nvPr/>
        </p:nvGrpSpPr>
        <p:grpSpPr>
          <a:xfrm>
            <a:off x="-42840" y="-2160"/>
            <a:ext cx="3348720" cy="919800"/>
            <a:chOff x="-42840" y="-2160"/>
            <a:chExt cx="3348720" cy="919800"/>
          </a:xfrm>
        </p:grpSpPr>
        <p:pic>
          <p:nvPicPr>
            <p:cNvPr id="76" name="Picture 2" descr="Home"/>
            <p:cNvPicPr/>
            <p:nvPr/>
          </p:nvPicPr>
          <p:blipFill>
            <a:blip r:embed="rId5"/>
            <a:srcRect l="0" t="0" r="66146" b="0"/>
            <a:stretch/>
          </p:blipFill>
          <p:spPr>
            <a:xfrm>
              <a:off x="-4284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7" name="TextBox 2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2"/>
          <p:cNvGrpSpPr/>
          <p:nvPr/>
        </p:nvGrpSpPr>
        <p:grpSpPr>
          <a:xfrm>
            <a:off x="10741680" y="102240"/>
            <a:ext cx="1266480" cy="1267920"/>
            <a:chOff x="10741680" y="102240"/>
            <a:chExt cx="1266480" cy="1267920"/>
          </a:xfrm>
        </p:grpSpPr>
        <p:pic>
          <p:nvPicPr>
            <p:cNvPr id="79" name="Picture 3"/>
            <p:cNvPicPr/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0" name="Picture 4"/>
            <p:cNvPicPr/>
            <p:nvPr/>
          </p:nvPicPr>
          <p:blipFill>
            <a:blip r:embed="rId8"/>
            <a:srcRect l="0" t="44439" r="0" b="40799"/>
            <a:stretch/>
          </p:blipFill>
          <p:spPr>
            <a:xfrm>
              <a:off x="1074168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" name="Picture 5"/>
            <p:cNvPicPr/>
            <p:nvPr/>
          </p:nvPicPr>
          <p:blipFill>
            <a:blip r:embed="rId9"/>
            <a:srcRect l="20218" t="17167" r="19987" b="17283"/>
            <a:stretch/>
          </p:blipFill>
          <p:spPr>
            <a:xfrm>
              <a:off x="1099656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2" name="Picture 6"/>
            <p:cNvPicPr/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What the Class Contributions Achieved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 #20 documented light-theme and dashboard review evidence for presentation readiness.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 #21 captured both the split recommendation and the alphabetical municipio-dropdown UX requirement.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 #23 preserved future enhancements without forcing them into current capstone scope.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Together, these PRs turned PR #14 from a vague debate into documented scope, usability, and future-work guidance.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85" name="Group 3"/>
          <p:cNvGrpSpPr/>
          <p:nvPr/>
        </p:nvGrpSpPr>
        <p:grpSpPr>
          <a:xfrm>
            <a:off x="-42840" y="-2160"/>
            <a:ext cx="3348720" cy="919800"/>
            <a:chOff x="-42840" y="-2160"/>
            <a:chExt cx="3348720" cy="919800"/>
          </a:xfrm>
        </p:grpSpPr>
        <p:pic>
          <p:nvPicPr>
            <p:cNvPr id="86" name="Picture 7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7" name="TextBox 5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" name="Group 4"/>
          <p:cNvGrpSpPr/>
          <p:nvPr/>
        </p:nvGrpSpPr>
        <p:grpSpPr>
          <a:xfrm>
            <a:off x="10741680" y="102240"/>
            <a:ext cx="1266480" cy="1267920"/>
            <a:chOff x="10741680" y="102240"/>
            <a:chExt cx="1266480" cy="1267920"/>
          </a:xfrm>
        </p:grpSpPr>
        <p:pic>
          <p:nvPicPr>
            <p:cNvPr id="89" name="Picture 8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0" name="Picture 9"/>
            <p:cNvPicPr/>
            <p:nvPr/>
          </p:nvPicPr>
          <p:blipFill>
            <a:blip r:embed="rId4"/>
            <a:srcRect l="0" t="44439" r="0" b="40799"/>
            <a:stretch/>
          </p:blipFill>
          <p:spPr>
            <a:xfrm>
              <a:off x="1074168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Picture 10"/>
            <p:cNvPicPr/>
            <p:nvPr/>
          </p:nvPicPr>
          <p:blipFill>
            <a:blip r:embed="rId5"/>
            <a:srcRect l="20218" t="17167" r="19987" b="17283"/>
            <a:stretch/>
          </p:blipFill>
          <p:spPr>
            <a:xfrm>
              <a:off x="1099656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" name="Picture 16"/>
            <p:cNvPicPr/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Current Repo Truth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PRs #20, #21, and #23 are now merged as docs-only support contributions.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 #14 is no longer the merge vehicle; it is effectively the lesson artifact, not the delivery path.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new facilitator-led technical path is PR #24 plus stacked PR #25.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Main now reflects the class feedback lane, while the capstone-critical code path is isolated for technical review.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95" name="Group 7"/>
          <p:cNvGrpSpPr/>
          <p:nvPr/>
        </p:nvGrpSpPr>
        <p:grpSpPr>
          <a:xfrm>
            <a:off x="-42840" y="-2160"/>
            <a:ext cx="3348720" cy="919800"/>
            <a:chOff x="-42840" y="-2160"/>
            <a:chExt cx="3348720" cy="919800"/>
          </a:xfrm>
        </p:grpSpPr>
        <p:pic>
          <p:nvPicPr>
            <p:cNvPr id="96" name="Picture 17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7" name="TextBox 6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10741680" y="102240"/>
            <a:ext cx="1266480" cy="1267920"/>
            <a:chOff x="10741680" y="102240"/>
            <a:chExt cx="1266480" cy="1267920"/>
          </a:xfrm>
        </p:grpSpPr>
        <p:pic>
          <p:nvPicPr>
            <p:cNvPr id="99" name="Picture 18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0" name="Picture 19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168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1" name="Picture 20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56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2" name="Picture 21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PR #14: What Was Right vs Lessons Learned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36400" y="1822320"/>
            <a:ext cx="5178600" cy="412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Strong initiative and real product energy.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Stakeholder-aligned direction around dashboard ownership and improvement.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Meaningful ideas around maps, rankings, live conditions, and explainability.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legitimate attempt to move beyond the starter shell.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480000" y="1822320"/>
            <a:ext cx="517788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App, backend, docs, and notebook churn were all mixed together.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Too large and noisy for late-semester review.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Dependency and run-path assumptions were not explicit enough.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Contribution traceability got muddy inside one oversized PR.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06" name="Group 9"/>
          <p:cNvGrpSpPr/>
          <p:nvPr/>
        </p:nvGrpSpPr>
        <p:grpSpPr>
          <a:xfrm>
            <a:off x="-42840" y="-2160"/>
            <a:ext cx="3348720" cy="919800"/>
            <a:chOff x="-42840" y="-2160"/>
            <a:chExt cx="3348720" cy="919800"/>
          </a:xfrm>
        </p:grpSpPr>
        <p:pic>
          <p:nvPicPr>
            <p:cNvPr id="107" name="Picture 22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8" name="TextBox 7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10"/>
          <p:cNvGrpSpPr/>
          <p:nvPr/>
        </p:nvGrpSpPr>
        <p:grpSpPr>
          <a:xfrm>
            <a:off x="10741680" y="102240"/>
            <a:ext cx="1266480" cy="1267920"/>
            <a:chOff x="10741680" y="102240"/>
            <a:chExt cx="1266480" cy="1267920"/>
          </a:xfrm>
        </p:grpSpPr>
        <p:pic>
          <p:nvPicPr>
            <p:cNvPr id="110" name="Picture 23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1" name="Picture 24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168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2" name="Picture 25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56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3" name="Picture 26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Technical Extraction Path Now Open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  <a:hlinkClick r:id="rId1"/>
              </a:rPr>
              <a:t>#24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isolates the DuckDB baseline sources, support views, SQL, and tests needed by the V2 dashboard.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  <a:hlinkClick r:id="rId2"/>
              </a:rPr>
              <a:t>#25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isolates the V2 Streamlit app, plotly dependency, run.sh up-v2/start-v2 path,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  <a:hlinkClick r:id="rId3"/>
              </a:rPr>
              <a:t>README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notes, and a V2 startup smoke test.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This stacked path keeps backend review first and UI review second.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That is the capstone-critical subset of PR #14, rebuilt in a mergeable shape.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16" name="Group 11"/>
          <p:cNvGrpSpPr/>
          <p:nvPr/>
        </p:nvGrpSpPr>
        <p:grpSpPr>
          <a:xfrm>
            <a:off x="-42480" y="-2160"/>
            <a:ext cx="3348720" cy="919800"/>
            <a:chOff x="-42480" y="-2160"/>
            <a:chExt cx="3348720" cy="919800"/>
          </a:xfrm>
        </p:grpSpPr>
        <p:pic>
          <p:nvPicPr>
            <p:cNvPr id="117" name="Picture 11" descr="Home"/>
            <p:cNvPicPr/>
            <p:nvPr/>
          </p:nvPicPr>
          <p:blipFill>
            <a:blip r:embed="rId4"/>
            <a:srcRect l="0" t="0" r="66146" b="0"/>
            <a:stretch/>
          </p:blipFill>
          <p:spPr>
            <a:xfrm>
              <a:off x="-4248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8" name="TextBox 3"/>
            <p:cNvSpPr/>
            <p:nvPr/>
          </p:nvSpPr>
          <p:spPr>
            <a:xfrm>
              <a:off x="103536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" name="Group 12"/>
          <p:cNvGrpSpPr/>
          <p:nvPr/>
        </p:nvGrpSpPr>
        <p:grpSpPr>
          <a:xfrm>
            <a:off x="10742040" y="102240"/>
            <a:ext cx="1266480" cy="1267920"/>
            <a:chOff x="10742040" y="102240"/>
            <a:chExt cx="1266480" cy="1267920"/>
          </a:xfrm>
        </p:grpSpPr>
        <p:pic>
          <p:nvPicPr>
            <p:cNvPr id="120" name="Picture 27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04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1" name="Picture 28"/>
            <p:cNvPicPr/>
            <p:nvPr/>
          </p:nvPicPr>
          <p:blipFill>
            <a:blip r:embed="rId6"/>
            <a:srcRect l="0" t="44439" r="0" b="40799"/>
            <a:stretch/>
          </p:blipFill>
          <p:spPr>
            <a:xfrm>
              <a:off x="1074204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2" name="Picture 29"/>
            <p:cNvPicPr/>
            <p:nvPr/>
          </p:nvPicPr>
          <p:blipFill>
            <a:blip r:embed="rId7"/>
            <a:srcRect l="20218" t="17167" r="19987" b="17283"/>
            <a:stretch/>
          </p:blipFill>
          <p:spPr>
            <a:xfrm>
              <a:off x="1099692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3" name="Picture 30"/>
            <p:cNvPicPr/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04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Why This Split Is Better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Because the dashboard should not merge before its data contract is testable.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Because late-capstone reviews need smaller, verifiable units.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Because students can now see which contribution lane was docs/support versus technical extraction.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Because future teams inherit a cleaner repo story with your contribution legacy.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26" name="Group 13"/>
          <p:cNvGrpSpPr/>
          <p:nvPr/>
        </p:nvGrpSpPr>
        <p:grpSpPr>
          <a:xfrm>
            <a:off x="-42480" y="-2160"/>
            <a:ext cx="3348720" cy="919800"/>
            <a:chOff x="-42480" y="-2160"/>
            <a:chExt cx="3348720" cy="919800"/>
          </a:xfrm>
        </p:grpSpPr>
        <p:pic>
          <p:nvPicPr>
            <p:cNvPr id="127" name="Picture 3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48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8" name="TextBox 8"/>
            <p:cNvSpPr/>
            <p:nvPr/>
          </p:nvSpPr>
          <p:spPr>
            <a:xfrm>
              <a:off x="103536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9" name="Group 14"/>
          <p:cNvGrpSpPr/>
          <p:nvPr/>
        </p:nvGrpSpPr>
        <p:grpSpPr>
          <a:xfrm>
            <a:off x="10742040" y="102240"/>
            <a:ext cx="1266480" cy="1267920"/>
            <a:chOff x="10742040" y="102240"/>
            <a:chExt cx="1266480" cy="1267920"/>
          </a:xfrm>
        </p:grpSpPr>
        <p:pic>
          <p:nvPicPr>
            <p:cNvPr id="130" name="Picture 3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04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1" name="Picture 3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04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2" name="Picture 3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92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" name="Picture 3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04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Validation and Readiness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 #24 passed local DuckDB baseline smoke tests for the new support views.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 #25 added and passed a V2 startup smoke test plus run.sh shell validation.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Plotly was added explicitly so the V2 dashboard is not a works-on-one-machine surprise.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local runner now supports ./run.sh up-v2 and ./run.sh start-v2 for the capstone dashboard path.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36" name="Group 15"/>
          <p:cNvGrpSpPr/>
          <p:nvPr/>
        </p:nvGrpSpPr>
        <p:grpSpPr>
          <a:xfrm>
            <a:off x="-42120" y="-2160"/>
            <a:ext cx="3348720" cy="919800"/>
            <a:chOff x="-42120" y="-2160"/>
            <a:chExt cx="3348720" cy="919800"/>
          </a:xfrm>
        </p:grpSpPr>
        <p:pic>
          <p:nvPicPr>
            <p:cNvPr id="137" name="Picture 3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8" name="TextBox 9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" name="Group 16"/>
          <p:cNvGrpSpPr/>
          <p:nvPr/>
        </p:nvGrpSpPr>
        <p:grpSpPr>
          <a:xfrm>
            <a:off x="10742400" y="102240"/>
            <a:ext cx="1266480" cy="1267920"/>
            <a:chOff x="10742400" y="102240"/>
            <a:chExt cx="1266480" cy="1267920"/>
          </a:xfrm>
        </p:grpSpPr>
        <p:pic>
          <p:nvPicPr>
            <p:cNvPr id="140" name="Picture 3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1" name="Picture 3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2" name="Picture 3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" name="Picture 4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What the Project Still Owes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Final report completion with clear methods, scope boundaries, and repo truth.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Final presentation rehearsal using a stable, deliberate demo path.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Final technical merge decisions on PR #24 and PR #25 after review.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Small polish and clarity fixes only; no last-minute feature sprawl.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46" name="Group 17"/>
          <p:cNvGrpSpPr/>
          <p:nvPr/>
        </p:nvGrpSpPr>
        <p:grpSpPr>
          <a:xfrm>
            <a:off x="-42120" y="-2160"/>
            <a:ext cx="3348720" cy="919800"/>
            <a:chOff x="-42120" y="-2160"/>
            <a:chExt cx="3348720" cy="919800"/>
          </a:xfrm>
        </p:grpSpPr>
        <p:pic>
          <p:nvPicPr>
            <p:cNvPr id="147" name="Picture 4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8" name="TextBox 10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9" name="Group 18"/>
          <p:cNvGrpSpPr/>
          <p:nvPr/>
        </p:nvGrpSpPr>
        <p:grpSpPr>
          <a:xfrm>
            <a:off x="10742400" y="102240"/>
            <a:ext cx="1266480" cy="1267920"/>
            <a:chOff x="10742400" y="102240"/>
            <a:chExt cx="1266480" cy="1267920"/>
          </a:xfrm>
        </p:grpSpPr>
        <p:pic>
          <p:nvPicPr>
            <p:cNvPr id="150" name="Picture 4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1" name="Picture 4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2" name="Picture 4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3" name="Picture 4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Risks To Avoid Right Now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Reopening PR #14 as the main merge vehicle.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Mixing notebook reruns, docs, and app changes back into one giant PR.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Confusing good idea with ready to land in main.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Burning final-week time on new enhancements instead of closing the story.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56" name="Group 19"/>
          <p:cNvGrpSpPr/>
          <p:nvPr/>
        </p:nvGrpSpPr>
        <p:grpSpPr>
          <a:xfrm>
            <a:off x="-42120" y="-2160"/>
            <a:ext cx="3348720" cy="919800"/>
            <a:chOff x="-42120" y="-2160"/>
            <a:chExt cx="3348720" cy="919800"/>
          </a:xfrm>
        </p:grpSpPr>
        <p:pic>
          <p:nvPicPr>
            <p:cNvPr id="157" name="Picture 4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" name="TextBox 11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" name="Group 20"/>
          <p:cNvGrpSpPr/>
          <p:nvPr/>
        </p:nvGrpSpPr>
        <p:grpSpPr>
          <a:xfrm>
            <a:off x="10742400" y="102240"/>
            <a:ext cx="1266480" cy="1267920"/>
            <a:chOff x="10742400" y="102240"/>
            <a:chExt cx="1266480" cy="1267920"/>
          </a:xfrm>
        </p:grpSpPr>
        <p:pic>
          <p:nvPicPr>
            <p:cNvPr id="160" name="Picture 4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1" name="Picture 4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2" name="Picture 4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3" name="Picture 5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Appendix: Closeout Work Lanes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776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166" name="Table 3"/>
          <p:cNvGraphicFramePr/>
          <p:nvPr/>
        </p:nvGraphicFramePr>
        <p:xfrm>
          <a:off x="411480" y="1554480"/>
          <a:ext cx="11201040" cy="4290120"/>
        </p:xfrm>
        <a:graphic>
          <a:graphicData uri="http://schemas.openxmlformats.org/drawingml/2006/table">
            <a:tbl>
              <a:tblPr/>
              <a:tblGrid>
                <a:gridCol w="1219680"/>
                <a:gridCol w="900000"/>
                <a:gridCol w="3735000"/>
                <a:gridCol w="3510000"/>
                <a:gridCol w="1836720"/>
              </a:tblGrid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Lane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Status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Why it matters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Next action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Suggested owner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Repo truth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Active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Class needs one shared explanation of what merged, what closed, and what is now under review.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 the report and slides to state that #20/#21/#23 merged and #24/#25 are the technical path.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Instructor-led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Technical path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Active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The capstone-critical subset of PR #14 is now isolated and reviewable.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Review PR #24 first, then PR #25, and validate the V2 dashboard demo path.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Willie + Siva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Final deliverables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Active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Report and presentation now matter as much as code polish.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Finish the report, rehearse the presentation, and keep repo claims aligned with reality.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Whole team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Demo path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Active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 stable local launch path is essential for a confident final presentation.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 the extracted runner path, test the deck narrative, and avoid new moving parts.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Instructor + demo team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Future work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Active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 ideas should be preserved without blowing current scope.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Leave terrain, deeper sensors, AI/ML expansion, and extra enhancements in documented follow-on lanes.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Whole team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67" name="TextBox 4"/>
          <p:cNvSpPr/>
          <p:nvPr/>
        </p:nvSpPr>
        <p:spPr>
          <a:xfrm>
            <a:off x="502920" y="5780160"/>
            <a:ext cx="1097172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Goal: truthful repo story, stable demo path, no merge chaos.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Group 21"/>
          <p:cNvGrpSpPr/>
          <p:nvPr/>
        </p:nvGrpSpPr>
        <p:grpSpPr>
          <a:xfrm>
            <a:off x="-42120" y="-2160"/>
            <a:ext cx="3348720" cy="919800"/>
            <a:chOff x="-42120" y="-2160"/>
            <a:chExt cx="3348720" cy="919800"/>
          </a:xfrm>
        </p:grpSpPr>
        <p:pic>
          <p:nvPicPr>
            <p:cNvPr id="169" name="Picture 5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0" name="TextBox 12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" name="Group 22"/>
          <p:cNvGrpSpPr/>
          <p:nvPr/>
        </p:nvGrpSpPr>
        <p:grpSpPr>
          <a:xfrm>
            <a:off x="10742400" y="102240"/>
            <a:ext cx="1266480" cy="1267920"/>
            <a:chOff x="10742400" y="102240"/>
            <a:chExt cx="1266480" cy="1267920"/>
          </a:xfrm>
        </p:grpSpPr>
        <p:pic>
          <p:nvPicPr>
            <p:cNvPr id="172" name="Picture 5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3" name="Picture 5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4" name="Picture 5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5" name="Picture 5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0560" cy="285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Next Class Goal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0560" cy="149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Coodrdinate with Dr Gang on closure deliverables. Use our tangibles and cleaner repo story: docs lane merged, technical lane reviewable, demo path stable, and future work preserved without extra merge risk.</a:t>
            </a:r>
            <a:endParaRPr lang="en-US" sz="22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grpSp>
        <p:nvGrpSpPr>
          <p:cNvPr id="178" name="Group 23"/>
          <p:cNvGrpSpPr/>
          <p:nvPr/>
        </p:nvGrpSpPr>
        <p:grpSpPr>
          <a:xfrm>
            <a:off x="-42120" y="-2160"/>
            <a:ext cx="3348720" cy="919800"/>
            <a:chOff x="-42120" y="-2160"/>
            <a:chExt cx="3348720" cy="919800"/>
          </a:xfrm>
        </p:grpSpPr>
        <p:pic>
          <p:nvPicPr>
            <p:cNvPr id="179" name="Picture 5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000" cy="91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0" name="TextBox 13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1" name="Group 24"/>
          <p:cNvGrpSpPr/>
          <p:nvPr/>
        </p:nvGrpSpPr>
        <p:grpSpPr>
          <a:xfrm>
            <a:off x="10742400" y="102240"/>
            <a:ext cx="1266480" cy="1267920"/>
            <a:chOff x="10742400" y="102240"/>
            <a:chExt cx="1266480" cy="1267920"/>
          </a:xfrm>
        </p:grpSpPr>
        <p:pic>
          <p:nvPicPr>
            <p:cNvPr id="182" name="Picture 5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480" cy="126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3" name="Picture 5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480" cy="18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4" name="Picture 5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2840" cy="83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5" name="Picture 6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600" cy="257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</TotalTime>
  <Application>LibreOffice/26.2.2.2$MacOSX_AARCH64 LibreOffice_project/1f77d10d6938fd34972958f64b2bcfa54f8b1ba5</Application>
  <AppVersion>15.0000</AppVersion>
  <Words>1381</Words>
  <Paragraphs>145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2026-02-08T03:35:48Z</dcterms:created>
  <dc:creator>Linton Wells II</dc:creator>
  <dc:description/>
  <dc:language>en-US</dc:language>
  <cp:lastModifiedBy/>
  <cp:lastPrinted>2026-02-12T20:40:04Z</cp:lastPrinted>
  <dcterms:modified xsi:type="dcterms:W3CDTF">2026-04-30T08:55:52Z</dcterms:modified>
  <cp:revision>29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